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725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2026年4月13日から19日までの1週間を振り返ります。非エンジニアの立場から、生成AIとナレッジ活動を中心に、実務とのつながりをまとめました。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月曜の朝はいつものルーティンから。Claude Code Wikiに週報を出力するところから1週間が始まります。1週間単位でまとめることで、振り返りとPDCAがしやすいことを再確認しました。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週の前半は、静かに土台を整える時間でした。マスタ担当者変更の反映、ポータル編集権限の取得と問い合わせリスト掲載、Claude入りPowerPointを使った資料再構成など、地道な作業を進めました。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週の中盤は、会話が線になっていく時間でした。統括部長向けAI研修、BPOキックオフ、ナレッジ環境のBOX移行、KM高度化の3案比較、月次1on1。点在していた関心がつながっていきました。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週末は実験室になりました。Xブックマークからの情報取り込み、Claude Designでのダッシュボード化、nano-banana-2でのイラスト生成、note記事の執筆、Obsidianスキル導入、remote-controlでのスマホ作業。手を動かしてみる時間です。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数字で振り返ると、7日間、イラスト5枚、KM高度化3案、note記事1本。来週は配信方法の見直し、可視化テーマの絞り込み、Gaudi論点整理、よく聞かれる質問トップ10への着手が続きます。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今週のキーメッセージ。私用AIは練習場、会社AIは実装の場。この切り分けが、今週の実験と実務のバランスを支えてくれました。来週も続けていきます。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3145572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LOG ／ 2026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2000250"/>
            <a:ext cx="356375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0" b="1" kern="0" spc="-5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4.13</a:t>
            </a:r>
            <a:endParaRPr lang="en-US" sz="13500" dirty="0"/>
          </a:p>
        </p:txBody>
      </p:sp>
      <p:sp>
        <p:nvSpPr>
          <p:cNvPr id="4" name="Shape 2"/>
          <p:cNvSpPr/>
          <p:nvPr/>
        </p:nvSpPr>
        <p:spPr>
          <a:xfrm>
            <a:off x="4983956" y="2828925"/>
            <a:ext cx="1143000" cy="5715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507956" y="2000250"/>
            <a:ext cx="356375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0" b="1" kern="0" spc="-5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4.19</a:t>
            </a:r>
            <a:endParaRPr lang="en-US" sz="13500" dirty="0"/>
          </a:p>
        </p:txBody>
      </p:sp>
      <p:sp>
        <p:nvSpPr>
          <p:cNvPr id="6" name="Text 4"/>
          <p:cNvSpPr/>
          <p:nvPr/>
        </p:nvSpPr>
        <p:spPr>
          <a:xfrm>
            <a:off x="1143000" y="4476750"/>
            <a:ext cx="3943411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非エンジニアの1週間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143000" y="5095875"/>
            <a:ext cx="569463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生成AIとナレッジと、実務と。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143000" y="6858000"/>
            <a:ext cx="1648206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7 DAYS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28750" y="7740650"/>
            <a:ext cx="15430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7143750"/>
            <a:ext cx="685800" cy="6858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104900" y="714375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11461" y="7962900"/>
            <a:ext cx="62497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4/13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95700" y="7143750"/>
            <a:ext cx="685800" cy="6858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657600" y="714375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64161" y="7962900"/>
            <a:ext cx="62497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4/14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48400" y="7143750"/>
            <a:ext cx="685800" cy="6858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210300" y="714375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316861" y="7962900"/>
            <a:ext cx="62497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4/15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01100" y="7143750"/>
            <a:ext cx="685800" cy="6858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763000" y="714375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869561" y="7962900"/>
            <a:ext cx="62497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4/16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353800" y="7143750"/>
            <a:ext cx="685800" cy="6858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11315700" y="714375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1422261" y="7962900"/>
            <a:ext cx="62497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4/17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906500" y="7143750"/>
            <a:ext cx="685800" cy="6858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3868400" y="714375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3974961" y="7962900"/>
            <a:ext cx="62497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4/18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6459200" y="7143750"/>
            <a:ext cx="685800" cy="685800"/>
          </a:xfrm>
          <a:prstGeom prst="ellipse">
            <a:avLst/>
          </a:prstGeom>
          <a:solidFill>
            <a:srgbClr val="0284C7"/>
          </a:solidFill>
          <a:ln/>
          <a:effectLst>
            <a:outerShdw blurRad="101600" dist="50800" dir="16200000" algn="bl" rotWithShape="0">
              <a:srgbClr val="E0F2FE">
                <a:alpha val="10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6421100" y="714375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6527661" y="7962900"/>
            <a:ext cx="62497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4/19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43000" y="9696450"/>
            <a:ext cx="25637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LOG ／ 4.13–4.19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6578164" y="9702800"/>
            <a:ext cx="64303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127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00/06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28700"/>
            <a:ext cx="247273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21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／ 4.13 ／ 07:30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524000"/>
            <a:ext cx="8158661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月曜の朝、いつもの一手から。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16014700" cy="61087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149350" y="2768600"/>
            <a:ext cx="16002000" cy="5397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49350" y="3302000"/>
            <a:ext cx="16002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377950" y="2963863"/>
            <a:ext cx="142875" cy="142875"/>
          </a:xfrm>
          <a:prstGeom prst="ellipse">
            <a:avLst/>
          </a:prstGeom>
          <a:solidFill>
            <a:srgbClr val="FF60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635125" y="2963863"/>
            <a:ext cx="142875" cy="142875"/>
          </a:xfrm>
          <a:prstGeom prst="ellipse">
            <a:avLst/>
          </a:prstGeom>
          <a:solidFill>
            <a:srgbClr val="FFBD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892300" y="2963863"/>
            <a:ext cx="142875" cy="142875"/>
          </a:xfrm>
          <a:prstGeom prst="ellipse">
            <a:avLst/>
          </a:prstGeom>
          <a:solidFill>
            <a:srgbClr val="00CA4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378075" y="2940050"/>
            <a:ext cx="33911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claude-code-wiki — weekly-log.md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720850" y="3708400"/>
            <a:ext cx="1530477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95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code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20850" y="4141788"/>
            <a:ext cx="1530477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週報を出力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720850" y="5008563"/>
            <a:ext cx="1530477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週報 2026年4月13日（月）〜4月19日（日）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720850" y="5875338"/>
            <a:ext cx="1530477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主な業務実績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20850" y="6308725"/>
            <a:ext cx="1530477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マスタ管理・データクリーン対応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20850" y="6742113"/>
            <a:ext cx="1530477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データマネジメント方針の整理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720850" y="7175500"/>
            <a:ext cx="1530477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AI研修・社内展開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720850" y="8042275"/>
            <a:ext cx="1530477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Claude Code Wiki に追記完了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43000" y="8934450"/>
            <a:ext cx="48206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1週間単位でまとめる。振り返りとPDCAのため。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43000" y="9696450"/>
            <a:ext cx="25637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LOG ／ 4.13–4.19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6578164" y="9702800"/>
            <a:ext cx="64303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127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01/06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028700"/>
            <a:ext cx="628650" cy="62865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104900" y="1028700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2057400" y="1196975"/>
            <a:ext cx="204132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2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週の前半 ／ 整える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143000" y="2000250"/>
            <a:ext cx="8203422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50" b="1" kern="0" spc="-117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静かに、土台を整える。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143000" y="3143250"/>
            <a:ext cx="748049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マスタ、データクリーン、担当者変更 —— 地道に反映。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4429125"/>
            <a:ext cx="5105400" cy="481330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549400" y="4835525"/>
            <a:ext cx="44213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4.14 TUE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49400" y="5254625"/>
            <a:ext cx="4421378" cy="462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ポータル編集権限を取得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1549400" y="5907485"/>
            <a:ext cx="4421378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アクセス権限付与リスト・マスタ問い合わせリストをポータル掲載まで完了。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549400" y="8788400"/>
            <a:ext cx="571500" cy="47625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591300" y="4429125"/>
            <a:ext cx="5105400" cy="481330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997700" y="4835525"/>
            <a:ext cx="44213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4.15 WED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97700" y="5254625"/>
            <a:ext cx="4421378" cy="462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データマネジメントの方向性</a:t>
            </a:r>
            <a:endParaRPr lang="en-US" sz="2475" dirty="0"/>
          </a:p>
        </p:txBody>
      </p:sp>
      <p:sp>
        <p:nvSpPr>
          <p:cNvPr id="15" name="Text 13"/>
          <p:cNvSpPr/>
          <p:nvPr/>
        </p:nvSpPr>
        <p:spPr>
          <a:xfrm>
            <a:off x="6997700" y="5907485"/>
            <a:ext cx="4421378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藤平さんと対話。①データクリーン ②可視化 ③マスタ深化 で概ね一致。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6997700" y="8788400"/>
            <a:ext cx="571500" cy="47625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2039600" y="4429125"/>
            <a:ext cx="5105400" cy="481330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2446001" y="4835525"/>
            <a:ext cx="44213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4.16 THU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446001" y="5254625"/>
            <a:ext cx="4421378" cy="886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Claude入りPowerPointで資料再構成</a:t>
            </a:r>
            <a:endParaRPr lang="en-US" sz="2475" dirty="0"/>
          </a:p>
        </p:txBody>
      </p:sp>
      <p:sp>
        <p:nvSpPr>
          <p:cNvPr id="20" name="Text 18"/>
          <p:cNvSpPr/>
          <p:nvPr/>
        </p:nvSpPr>
        <p:spPr>
          <a:xfrm>
            <a:off x="12446001" y="6331744"/>
            <a:ext cx="4421378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論点が見やすい資料に。データマネジメント今年度取り組み資料を作成。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2446001" y="8788400"/>
            <a:ext cx="571500" cy="47625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143000" y="8959850"/>
            <a:ext cx="703931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kintone 通常対応 ／ SHIP FY25 エラー個別メンション ／ ポータルへインポート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9696450"/>
            <a:ext cx="25637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LOG ／ 4.13–4.19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6578164" y="9702800"/>
            <a:ext cx="64303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127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02/06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028700"/>
            <a:ext cx="628650" cy="62865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104900" y="1028700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2057400" y="1196975"/>
            <a:ext cx="20472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2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週の中盤 ／ つなぐ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143000" y="2000250"/>
            <a:ext cx="673416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50" b="1" kern="0" spc="-117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会話が、線になる。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143000" y="3143250"/>
            <a:ext cx="868200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AI研修、キックオフ、1on1 —— 点在していた関心がつながっていく。</a:t>
            </a:r>
            <a:endParaRPr lang="en-US" sz="2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r="51270" b="56446"/>
          <a:stretch>
            <a:fillRect/>
          </a:stretch>
        </p:blipFill>
        <p:spPr>
          <a:xfrm>
            <a:off x="1018034" y="2647950"/>
            <a:ext cx="16203167" cy="54641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43125" y="5572125"/>
            <a:ext cx="2051050" cy="2051050"/>
          </a:xfrm>
          <a:prstGeom prst="roundRect">
            <a:avLst>
              <a:gd name="adj" fmla="val 48762"/>
            </a:avLst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  <a:effectLst>
            <a:outerShdw blurRad="101600" dist="50800" dir="16200000" algn="bl" rotWithShape="0">
              <a:srgbClr val="F0F9FF">
                <a:alpha val="10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2768600" y="6318647"/>
            <a:ext cx="876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統括部長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2871490" y="6578600"/>
            <a:ext cx="6705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AI研修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6429375" y="4714875"/>
            <a:ext cx="2051050" cy="2051050"/>
          </a:xfrm>
          <a:prstGeom prst="roundRect">
            <a:avLst>
              <a:gd name="adj" fmla="val 48762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101600" dist="50800" dir="16200000" algn="bl" rotWithShape="0">
              <a:srgbClr val="F0F9FF">
                <a:alpha val="10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7243068" y="5461397"/>
            <a:ext cx="49986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BPO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6954838" y="5721350"/>
            <a:ext cx="107632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キックオフ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10715625" y="5572125"/>
            <a:ext cx="2051050" cy="2051050"/>
          </a:xfrm>
          <a:prstGeom prst="roundRect">
            <a:avLst>
              <a:gd name="adj" fmla="val 48762"/>
            </a:avLst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  <a:effectLst>
            <a:outerShdw blurRad="101600" dist="50800" dir="16200000" algn="bl" rotWithShape="0">
              <a:srgbClr val="F0F9FF">
                <a:alpha val="10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11141076" y="6318647"/>
            <a:ext cx="12763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ナレッジ環境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1336536" y="6578600"/>
            <a:ext cx="88542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BOX移行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4001750" y="4333875"/>
            <a:ext cx="2051050" cy="2051050"/>
          </a:xfrm>
          <a:prstGeom prst="roundRect">
            <a:avLst>
              <a:gd name="adj" fmla="val 48762"/>
            </a:avLst>
          </a:prstGeom>
          <a:solidFill>
            <a:srgbClr val="FFFFFF"/>
          </a:solidFill>
          <a:ln w="25400">
            <a:solidFill>
              <a:srgbClr val="0369A1"/>
            </a:solidFill>
            <a:prstDash val="solid"/>
          </a:ln>
          <a:effectLst>
            <a:outerShdw blurRad="101600" dist="50800" dir="16200000" algn="bl" rotWithShape="0">
              <a:srgbClr val="F0F9FF">
                <a:alpha val="10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14508461" y="5043190"/>
            <a:ext cx="111383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KM高度化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616907" y="5340350"/>
            <a:ext cx="89693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3案比較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6097250" y="7000875"/>
            <a:ext cx="1860550" cy="1860550"/>
          </a:xfrm>
          <a:prstGeom prst="roundRect">
            <a:avLst>
              <a:gd name="adj" fmla="val 48635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101600" dist="50800" dir="16200000" algn="bl" rotWithShape="0">
              <a:srgbClr val="F0F9FF">
                <a:alpha val="10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16519228" y="7614940"/>
            <a:ext cx="109279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月次1on1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570326" y="7912100"/>
            <a:ext cx="990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×マーケ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43000" y="8743950"/>
            <a:ext cx="75374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KM高度化：BOX AI ／ dify RAG ／ Copilot業務統合 の3案を比較して提案。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143000" y="9696450"/>
            <a:ext cx="25637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LOG ／ 4.13–4.19</a:t>
            </a:r>
            <a:endParaRPr lang="en-US" sz="1275" dirty="0"/>
          </a:p>
        </p:txBody>
      </p:sp>
      <p:sp>
        <p:nvSpPr>
          <p:cNvPr id="25" name="Text 22"/>
          <p:cNvSpPr/>
          <p:nvPr/>
        </p:nvSpPr>
        <p:spPr>
          <a:xfrm>
            <a:off x="16578164" y="9702800"/>
            <a:ext cx="64303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127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03/06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028700"/>
            <a:ext cx="628650" cy="62865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104900" y="1028700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2057400" y="1196975"/>
            <a:ext cx="136316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2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週末 ／ 試す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143000" y="2000250"/>
            <a:ext cx="8249308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50" b="1" kern="0" spc="-117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週末は、実験室になる。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143000" y="3143250"/>
            <a:ext cx="953318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Design／nano-banana／Obsidian／remote-control —— 手を動かしてみる。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143000" y="4191000"/>
            <a:ext cx="7858125" cy="2376686"/>
          </a:xfrm>
          <a:prstGeom prst="roundRect">
            <a:avLst>
              <a:gd name="adj" fmla="val 601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143000" y="6561336"/>
            <a:ext cx="785812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143000" y="4191000"/>
            <a:ext cx="785812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4191000"/>
            <a:ext cx="57150" cy="2376686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994775" y="4191000"/>
            <a:ext cx="9525" cy="237668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524000" y="4597400"/>
            <a:ext cx="10090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4.17 FRI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90445" y="4521200"/>
            <a:ext cx="1780481" cy="342900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039670" y="4575175"/>
            <a:ext cx="1558231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5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Wiki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524000" y="4997450"/>
            <a:ext cx="736133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Xブックマークから 情報を取り込み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24000" y="5923161"/>
            <a:ext cx="73613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設定・入門・活用事例・Skills系を整理してWikiを拡充。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86875" y="4191000"/>
            <a:ext cx="7858125" cy="2376686"/>
          </a:xfrm>
          <a:prstGeom prst="roundRect">
            <a:avLst>
              <a:gd name="adj" fmla="val 601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9286875" y="6561336"/>
            <a:ext cx="785812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9286875" y="4191000"/>
            <a:ext cx="785812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9286875" y="4191000"/>
            <a:ext cx="57150" cy="237668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7138650" y="4191000"/>
            <a:ext cx="9525" cy="237668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667875" y="4597400"/>
            <a:ext cx="10090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4.18 SAT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5301417" y="4521200"/>
            <a:ext cx="1513384" cy="342900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5450642" y="4575175"/>
            <a:ext cx="129113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5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Design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9667875" y="4997450"/>
            <a:ext cx="736133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アンケートを ダッシュボード化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67875" y="5923161"/>
            <a:ext cx="73613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nano-banana-2 MCP でちびキャラ水彩イラストを5枚生成。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143000" y="6853436"/>
            <a:ext cx="7858125" cy="2376686"/>
          </a:xfrm>
          <a:prstGeom prst="roundRect">
            <a:avLst>
              <a:gd name="adj" fmla="val 601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143000" y="9223772"/>
            <a:ext cx="785812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1143000" y="6853436"/>
            <a:ext cx="785812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1143000" y="6853436"/>
            <a:ext cx="57150" cy="2376686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994775" y="6853436"/>
            <a:ext cx="9525" cy="237668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524000" y="7259836"/>
            <a:ext cx="10090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4.18 SAT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651651" y="7183636"/>
            <a:ext cx="1019274" cy="342900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7800876" y="7237611"/>
            <a:ext cx="79702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5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note記事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524000" y="7659886"/>
            <a:ext cx="736133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「会社のAIは 物足りない…」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524000" y="8585597"/>
            <a:ext cx="73613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私用AIは練習場、会社AIは実装の場。画像生成を /note-illustration に固定化。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286875" y="6853436"/>
            <a:ext cx="7858125" cy="2376686"/>
          </a:xfrm>
          <a:prstGeom prst="roundRect">
            <a:avLst>
              <a:gd name="adj" fmla="val 601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9286875" y="9223772"/>
            <a:ext cx="785812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9286875" y="6853436"/>
            <a:ext cx="785812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9286875" y="6853436"/>
            <a:ext cx="57150" cy="2376686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17138650" y="6853436"/>
            <a:ext cx="9525" cy="237668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9667875" y="7259836"/>
            <a:ext cx="10090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4.19 SUN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4202768" y="7183636"/>
            <a:ext cx="2612033" cy="342900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14351993" y="7237611"/>
            <a:ext cx="239194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kern="0" spc="5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× remote-control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9667875" y="7659886"/>
            <a:ext cx="736133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スマホから HTMLデプロイまで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9667875" y="8585597"/>
            <a:ext cx="73613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DesignサイトをGitHub Pagesへ。外出中でも作業継続可。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143000" y="9696450"/>
            <a:ext cx="25637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LOG ／ 4.13–4.19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16578164" y="9702800"/>
            <a:ext cx="64303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127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04/06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28700"/>
            <a:ext cx="213260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21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／ 1週間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524000"/>
            <a:ext cx="746874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50" b="1" kern="0" spc="-117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数字で、振り返ると。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143000" y="3619500"/>
            <a:ext cx="1376958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0" b="1" kern="0" spc="-72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2558058" y="5099050"/>
            <a:ext cx="6477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6134100"/>
            <a:ext cx="685800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143000" y="6391275"/>
            <a:ext cx="389977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月〜日、記録した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214938" y="3619500"/>
            <a:ext cx="1376958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0" b="1" kern="0" spc="-72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0" dirty="0"/>
          </a:p>
        </p:txBody>
      </p:sp>
      <p:sp>
        <p:nvSpPr>
          <p:cNvPr id="9" name="Text 7"/>
          <p:cNvSpPr/>
          <p:nvPr/>
        </p:nvSpPr>
        <p:spPr>
          <a:xfrm>
            <a:off x="6629995" y="5099050"/>
            <a:ext cx="6477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枚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5214938" y="6134100"/>
            <a:ext cx="685800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214938" y="6391275"/>
            <a:ext cx="389977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nano-banana-2で生成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286875" y="3619500"/>
            <a:ext cx="1376958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0" b="1" kern="0" spc="-72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0" dirty="0"/>
          </a:p>
        </p:txBody>
      </p:sp>
      <p:sp>
        <p:nvSpPr>
          <p:cNvPr id="13" name="Text 11"/>
          <p:cNvSpPr/>
          <p:nvPr/>
        </p:nvSpPr>
        <p:spPr>
          <a:xfrm>
            <a:off x="10701933" y="5099050"/>
            <a:ext cx="6477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9286875" y="6134100"/>
            <a:ext cx="685800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286875" y="6391275"/>
            <a:ext cx="389977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KM高度化の比較提案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358813" y="3619500"/>
            <a:ext cx="1376958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0" b="1" kern="0" spc="-72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0" dirty="0"/>
          </a:p>
        </p:txBody>
      </p:sp>
      <p:sp>
        <p:nvSpPr>
          <p:cNvPr id="17" name="Text 15"/>
          <p:cNvSpPr/>
          <p:nvPr/>
        </p:nvSpPr>
        <p:spPr>
          <a:xfrm>
            <a:off x="14773870" y="5099050"/>
            <a:ext cx="6477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</a:t>
            </a:r>
            <a:endParaRPr lang="en-US" sz="4500" dirty="0"/>
          </a:p>
        </p:txBody>
      </p:sp>
      <p:sp>
        <p:nvSpPr>
          <p:cNvPr id="18" name="Shape 16"/>
          <p:cNvSpPr/>
          <p:nvPr/>
        </p:nvSpPr>
        <p:spPr>
          <a:xfrm>
            <a:off x="13358813" y="6134100"/>
            <a:ext cx="685800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3358813" y="6391275"/>
            <a:ext cx="389977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note記事を執筆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143000" y="8166100"/>
            <a:ext cx="16002000" cy="882650"/>
          </a:xfrm>
          <a:prstGeom prst="roundRect">
            <a:avLst>
              <a:gd name="adj" fmla="val 16187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530350" y="8439150"/>
            <a:ext cx="764778" cy="336550"/>
          </a:xfrm>
          <a:prstGeom prst="roundRect">
            <a:avLst>
              <a:gd name="adj" fmla="val 25472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673225" y="8496300"/>
            <a:ext cx="55522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23728" y="8445004"/>
            <a:ext cx="146609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来週へ ▸ 配信方法の見直し・可視化テーマ絞り込み・Gaudi論点整理・「よく聞かれる質問トップ10」着手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43000" y="9696450"/>
            <a:ext cx="25637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LOG ／ 4.13–4.19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6578164" y="9702800"/>
            <a:ext cx="64303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127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05/06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28700"/>
            <a:ext cx="165635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21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1524000"/>
            <a:ext cx="227082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0" b="1" kern="0" spc="-72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476500" y="3810000"/>
            <a:ext cx="13735050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0" b="1" kern="0" spc="-2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私用AIは、</a:t>
            </a:r>
            <a:r>
              <a:rPr lang="en-US" sz="7500" b="1" kern="0" spc="-225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練習場</a:t>
            </a:r>
            <a:r>
              <a:rPr lang="en-US" sz="7500" b="1" kern="0" spc="-2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2476500" y="5114925"/>
            <a:ext cx="13735050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0" b="1" kern="0" spc="-2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会社AIは、</a:t>
            </a:r>
            <a:r>
              <a:rPr lang="en-US" sz="7500" b="1" kern="0" spc="-225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実装の場</a:t>
            </a:r>
            <a:r>
              <a:rPr lang="en-US" sz="7500" b="1" kern="0" spc="-2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15521880" y="6667500"/>
            <a:ext cx="227082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0" b="1" kern="0" spc="-72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</a:t>
            </a:r>
            <a:endParaRPr lang="en-US" sz="18000" dirty="0"/>
          </a:p>
        </p:txBody>
      </p:sp>
      <p:sp>
        <p:nvSpPr>
          <p:cNvPr id="7" name="Shape 5"/>
          <p:cNvSpPr/>
          <p:nvPr/>
        </p:nvSpPr>
        <p:spPr>
          <a:xfrm>
            <a:off x="2143125" y="8143875"/>
            <a:ext cx="685800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143125" y="8362950"/>
            <a:ext cx="40622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2026.4.13 ─ 4.19 ／ WEEKLY LOG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43125" y="8743950"/>
            <a:ext cx="40622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 next week.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143000" y="9696450"/>
            <a:ext cx="25637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LOG ／ 4.13–4.19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6578164" y="9702800"/>
            <a:ext cx="64303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127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06/06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541</Words>
  <Application>Microsoft Office PowerPoint</Application>
  <PresentationFormat>ユーザー設定</PresentationFormat>
  <Paragraphs>132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小百合 田辺</cp:lastModifiedBy>
  <cp:revision>2</cp:revision>
  <dcterms:created xsi:type="dcterms:W3CDTF">2026-04-19T23:41:38Z</dcterms:created>
  <dcterms:modified xsi:type="dcterms:W3CDTF">2026-04-19T23:43:31Z</dcterms:modified>
</cp:coreProperties>
</file>